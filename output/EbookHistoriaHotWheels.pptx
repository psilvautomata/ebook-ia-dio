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5"/>
  </p:notesMasterIdLst>
  <p:sldIdLst>
    <p:sldId id="256" r:id="rId2"/>
    <p:sldId id="258" r:id="rId3"/>
    <p:sldId id="260" r:id="rId4"/>
    <p:sldId id="261" r:id="rId5"/>
    <p:sldId id="262" r:id="rId6"/>
    <p:sldId id="265" r:id="rId7"/>
    <p:sldId id="266" r:id="rId8"/>
    <p:sldId id="268" r:id="rId9"/>
    <p:sldId id="267" r:id="rId10"/>
    <p:sldId id="269" r:id="rId11"/>
    <p:sldId id="270" r:id="rId12"/>
    <p:sldId id="263" r:id="rId13"/>
    <p:sldId id="264" r:id="rId14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C340"/>
    <a:srgbClr val="E94527"/>
    <a:srgbClr val="4081BB"/>
    <a:srgbClr val="E64838"/>
    <a:srgbClr val="4080B9"/>
    <a:srgbClr val="FBDD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57" d="100"/>
          <a:sy n="57" d="100"/>
        </p:scale>
        <p:origin x="192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877DCF-63A3-4C9E-9F86-D1D81A21E109}" type="datetimeFigureOut">
              <a:rPr lang="pt-BR" smtClean="0"/>
              <a:t>27/10/2025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6CD697-C5E6-40F0-A6AF-B98C502185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6207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8627D-3392-4574-B07C-D833D32A8A15}" type="datetime1">
              <a:rPr lang="pt-BR" smtClean="0"/>
              <a:t>27/10/2025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49CF2-B3F8-43E0-914E-7339EF572E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4478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92996-77DD-4622-B1ED-32A5C1EAF095}" type="datetime1">
              <a:rPr lang="pt-BR" smtClean="0"/>
              <a:t>27/10/2025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49CF2-B3F8-43E0-914E-7339EF572E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8778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19106-6194-48A6-BB40-DEBBA313599C}" type="datetime1">
              <a:rPr lang="pt-BR" smtClean="0"/>
              <a:t>27/10/2025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49CF2-B3F8-43E0-914E-7339EF572E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5493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69F99-E3C3-4499-A236-BAA1F6427B75}" type="datetime1">
              <a:rPr lang="pt-BR" smtClean="0"/>
              <a:t>27/10/2025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49CF2-B3F8-43E0-914E-7339EF572E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481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6A6DF-2AF6-4443-8ADA-94F2C2F31AED}" type="datetime1">
              <a:rPr lang="pt-BR" smtClean="0"/>
              <a:t>27/10/2025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49CF2-B3F8-43E0-914E-7339EF572E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5680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3A80F-F31B-4A86-88D4-3AFED619992C}" type="datetime1">
              <a:rPr lang="pt-BR" smtClean="0"/>
              <a:t>27/10/2025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49CF2-B3F8-43E0-914E-7339EF572E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9438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20EC9-389A-44B1-A415-B87054948802}" type="datetime1">
              <a:rPr lang="pt-BR" smtClean="0"/>
              <a:t>27/10/2025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49CF2-B3F8-43E0-914E-7339EF572E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0768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EA93A-8602-4662-AC40-A2EC06C73E7D}" type="datetime1">
              <a:rPr lang="pt-BR" smtClean="0"/>
              <a:t>27/10/2025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49CF2-B3F8-43E0-914E-7339EF572E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9780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18B80-DE1A-4336-A3B8-76D9DE8E0F76}" type="datetime1">
              <a:rPr lang="pt-BR" smtClean="0"/>
              <a:t>27/10/2025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49CF2-B3F8-43E0-914E-7339EF572E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7490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C296C-902B-4426-889D-CAB628ABBD3E}" type="datetime1">
              <a:rPr lang="pt-BR" smtClean="0"/>
              <a:t>27/10/2025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49CF2-B3F8-43E0-914E-7339EF572E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4416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F7D1-24E6-477B-A7E0-C70EB1C33154}" type="datetime1">
              <a:rPr lang="pt-BR" smtClean="0"/>
              <a:t>27/10/2025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49CF2-B3F8-43E0-914E-7339EF572E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9468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004587-5B76-4BE6-8AA7-A499F713F43F}" type="datetime1">
              <a:rPr lang="pt-BR" smtClean="0"/>
              <a:t>27/10/2025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C49CF2-B3F8-43E0-914E-7339EF572EF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7425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80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E9F0253B-3140-4C6D-9238-7342964110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713" y="0"/>
            <a:ext cx="5660571" cy="9906000"/>
          </a:xfrm>
          <a:prstGeom prst="rect">
            <a:avLst/>
          </a:prstGeom>
        </p:spPr>
      </p:pic>
      <p:grpSp>
        <p:nvGrpSpPr>
          <p:cNvPr id="10" name="Agrupar 9">
            <a:extLst>
              <a:ext uri="{FF2B5EF4-FFF2-40B4-BE49-F238E27FC236}">
                <a16:creationId xmlns:a16="http://schemas.microsoft.com/office/drawing/2014/main" id="{7E7B1EE1-87EE-4E82-BD73-E93197ACE151}"/>
              </a:ext>
            </a:extLst>
          </p:cNvPr>
          <p:cNvGrpSpPr/>
          <p:nvPr/>
        </p:nvGrpSpPr>
        <p:grpSpPr>
          <a:xfrm>
            <a:off x="-12297" y="7279092"/>
            <a:ext cx="6506073" cy="1354217"/>
            <a:chOff x="40341" y="7642162"/>
            <a:chExt cx="6506073" cy="1354217"/>
          </a:xfrm>
        </p:grpSpPr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2690C0D9-7A36-4B83-BF2A-82372B8D9CEB}"/>
                </a:ext>
              </a:extLst>
            </p:cNvPr>
            <p:cNvSpPr txBox="1"/>
            <p:nvPr/>
          </p:nvSpPr>
          <p:spPr>
            <a:xfrm>
              <a:off x="40341" y="7642162"/>
              <a:ext cx="6506073" cy="646331"/>
            </a:xfrm>
            <a:prstGeom prst="rect">
              <a:avLst/>
            </a:prstGeom>
            <a:solidFill>
              <a:srgbClr val="E94527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pt-BR" sz="3600" dirty="0">
                  <a:solidFill>
                    <a:srgbClr val="FBDD4A"/>
                  </a:solidFill>
                  <a:latin typeface="Albert Sans" pitchFamily="2" charset="0"/>
                </a:rPr>
                <a:t>A HISTÓRIA DA HOT WHEELS</a:t>
              </a:r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51C1E764-353B-4E8F-99F9-151F2042D883}"/>
                </a:ext>
              </a:extLst>
            </p:cNvPr>
            <p:cNvSpPr txBox="1"/>
            <p:nvPr/>
          </p:nvSpPr>
          <p:spPr>
            <a:xfrm>
              <a:off x="56092" y="8288493"/>
              <a:ext cx="6490322" cy="707886"/>
            </a:xfrm>
            <a:prstGeom prst="rect">
              <a:avLst/>
            </a:prstGeom>
            <a:solidFill>
              <a:srgbClr val="F8C340"/>
            </a:solidFill>
          </p:spPr>
          <p:txBody>
            <a:bodyPr wrap="square" rtlCol="0">
              <a:spAutoFit/>
            </a:bodyPr>
            <a:lstStyle/>
            <a:p>
              <a:r>
                <a:rPr lang="pt-BR" sz="2000" dirty="0">
                  <a:solidFill>
                    <a:srgbClr val="E64838"/>
                  </a:solidFill>
                  <a:latin typeface="Albert Sans" pitchFamily="2" charset="0"/>
                </a:rPr>
                <a:t>A marca que revolucionou o mundo dos brinquedos automotivos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60434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1D154CA8-0050-44F8-A51D-C1668CE8C09E}"/>
              </a:ext>
            </a:extLst>
          </p:cNvPr>
          <p:cNvSpPr/>
          <p:nvPr/>
        </p:nvSpPr>
        <p:spPr>
          <a:xfrm>
            <a:off x="0" y="0"/>
            <a:ext cx="6858000" cy="990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Título">
            <a:extLst>
              <a:ext uri="{FF2B5EF4-FFF2-40B4-BE49-F238E27FC236}">
                <a16:creationId xmlns:a16="http://schemas.microsoft.com/office/drawing/2014/main" id="{9AC7BF4E-8E57-42CF-8E7D-F340AA3CAA37}"/>
              </a:ext>
            </a:extLst>
          </p:cNvPr>
          <p:cNvSpPr txBox="1">
            <a:spLocks/>
          </p:cNvSpPr>
          <p:nvPr/>
        </p:nvSpPr>
        <p:spPr>
          <a:xfrm>
            <a:off x="471485" y="6602506"/>
            <a:ext cx="5915025" cy="18577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dirty="0">
                <a:solidFill>
                  <a:srgbClr val="F8C340"/>
                </a:solidFill>
                <a:latin typeface="Impact" panose="020B0806030902050204" pitchFamily="34" charset="0"/>
              </a:rPr>
              <a:t>ELLIOT &amp; RUTH: O CASAL QUE MUDOU A HISTÓRIA DOS BRINQUEDOS PARA SEMPRE</a:t>
            </a:r>
            <a:endParaRPr lang="pt-BR" sz="6600" dirty="0">
              <a:solidFill>
                <a:srgbClr val="F8C340"/>
              </a:solidFill>
              <a:latin typeface="Impact" panose="020B0806030902050204" pitchFamily="34" charset="0"/>
            </a:endParaRPr>
          </a:p>
        </p:txBody>
      </p:sp>
      <p:sp>
        <p:nvSpPr>
          <p:cNvPr id="9" name="Título">
            <a:extLst>
              <a:ext uri="{FF2B5EF4-FFF2-40B4-BE49-F238E27FC236}">
                <a16:creationId xmlns:a16="http://schemas.microsoft.com/office/drawing/2014/main" id="{C3BE97D5-B4C9-4F5C-8603-A830AB8F546E}"/>
              </a:ext>
            </a:extLst>
          </p:cNvPr>
          <p:cNvSpPr txBox="1">
            <a:spLocks/>
          </p:cNvSpPr>
          <p:nvPr/>
        </p:nvSpPr>
        <p:spPr>
          <a:xfrm>
            <a:off x="471486" y="6011808"/>
            <a:ext cx="5915025" cy="4563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6000" dirty="0">
                <a:solidFill>
                  <a:srgbClr val="E94527"/>
                </a:solidFill>
                <a:latin typeface="Impact" panose="020B0806030902050204" pitchFamily="34" charset="0"/>
              </a:rPr>
              <a:t>01</a:t>
            </a:r>
          </a:p>
        </p:txBody>
      </p:sp>
      <p:sp>
        <p:nvSpPr>
          <p:cNvPr id="10" name="Espaço Reservado para Número de Slide 9">
            <a:extLst>
              <a:ext uri="{FF2B5EF4-FFF2-40B4-BE49-F238E27FC236}">
                <a16:creationId xmlns:a16="http://schemas.microsoft.com/office/drawing/2014/main" id="{965B5B43-9922-45D6-A6BF-E1B724575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49CF2-B3F8-43E0-914E-7339EF572EFE}" type="slidenum">
              <a:rPr lang="pt-BR" smtClean="0">
                <a:solidFill>
                  <a:schemeClr val="bg1"/>
                </a:solidFill>
              </a:rPr>
              <a:t>2</a:t>
            </a:fld>
            <a:endParaRPr lang="pt-B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278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">
            <a:extLst>
              <a:ext uri="{FF2B5EF4-FFF2-40B4-BE49-F238E27FC236}">
                <a16:creationId xmlns:a16="http://schemas.microsoft.com/office/drawing/2014/main" id="{9AC7BF4E-8E57-42CF-8E7D-F340AA3CAA37}"/>
              </a:ext>
            </a:extLst>
          </p:cNvPr>
          <p:cNvSpPr txBox="1">
            <a:spLocks/>
          </p:cNvSpPr>
          <p:nvPr/>
        </p:nvSpPr>
        <p:spPr>
          <a:xfrm>
            <a:off x="860614" y="472593"/>
            <a:ext cx="5809128" cy="70136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dirty="0">
                <a:solidFill>
                  <a:srgbClr val="F8C340"/>
                </a:solidFill>
                <a:latin typeface="Impact" panose="020B0806030902050204" pitchFamily="34" charset="0"/>
              </a:rPr>
              <a:t>ELLIOT &amp; RUTH: O CASAL QUE MUDOU A HISTÓRIA DOS BRINQUEDOS PARA SEMPRE</a:t>
            </a:r>
            <a:endParaRPr lang="pt-BR" sz="4400" dirty="0">
              <a:solidFill>
                <a:srgbClr val="F8C340"/>
              </a:solidFill>
              <a:latin typeface="Impact" panose="020B0806030902050204" pitchFamily="34" charset="0"/>
            </a:endParaRPr>
          </a:p>
        </p:txBody>
      </p:sp>
      <p:sp>
        <p:nvSpPr>
          <p:cNvPr id="9" name="Título">
            <a:extLst>
              <a:ext uri="{FF2B5EF4-FFF2-40B4-BE49-F238E27FC236}">
                <a16:creationId xmlns:a16="http://schemas.microsoft.com/office/drawing/2014/main" id="{C3BE97D5-B4C9-4F5C-8603-A830AB8F546E}"/>
              </a:ext>
            </a:extLst>
          </p:cNvPr>
          <p:cNvSpPr txBox="1">
            <a:spLocks/>
          </p:cNvSpPr>
          <p:nvPr/>
        </p:nvSpPr>
        <p:spPr>
          <a:xfrm>
            <a:off x="350462" y="472593"/>
            <a:ext cx="698410" cy="4563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200" dirty="0">
                <a:solidFill>
                  <a:srgbClr val="E94527"/>
                </a:solidFill>
                <a:latin typeface="Impact" panose="020B0806030902050204" pitchFamily="34" charset="0"/>
              </a:rPr>
              <a:t>01</a:t>
            </a:r>
          </a:p>
        </p:txBody>
      </p:sp>
      <p:sp>
        <p:nvSpPr>
          <p:cNvPr id="6" name="Texto">
            <a:extLst>
              <a:ext uri="{FF2B5EF4-FFF2-40B4-BE49-F238E27FC236}">
                <a16:creationId xmlns:a16="http://schemas.microsoft.com/office/drawing/2014/main" id="{008B5327-025C-4D27-BBFB-6C6BD1A70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359" y="1492744"/>
            <a:ext cx="6213383" cy="411667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2000" dirty="0"/>
              <a:t>Elliot </a:t>
            </a:r>
            <a:r>
              <a:rPr lang="pt-BR" sz="2000" dirty="0" err="1"/>
              <a:t>Handler</a:t>
            </a:r>
            <a:r>
              <a:rPr lang="pt-BR" sz="2000" dirty="0"/>
              <a:t> e Ruth </a:t>
            </a:r>
            <a:r>
              <a:rPr lang="pt-BR" sz="2000" dirty="0" err="1"/>
              <a:t>Handler</a:t>
            </a:r>
            <a:r>
              <a:rPr lang="pt-BR" sz="2000" dirty="0"/>
              <a:t> formavam um casal com uma parceria pessoal e profissional rara. Juntos fundaram a </a:t>
            </a:r>
            <a:r>
              <a:rPr lang="pt-BR" sz="2000" dirty="0" err="1"/>
              <a:t>Mattel</a:t>
            </a:r>
            <a:r>
              <a:rPr lang="pt-BR" sz="2000" dirty="0"/>
              <a:t> em 1945, inicialmente produzindo porta-retratos e utensílios domésticos. Sua primeira invenção de sucesso foi o “</a:t>
            </a:r>
            <a:r>
              <a:rPr lang="pt-BR" sz="2000" dirty="0" err="1"/>
              <a:t>Uke</a:t>
            </a:r>
            <a:r>
              <a:rPr lang="pt-BR" sz="2000" dirty="0"/>
              <a:t>-A-</a:t>
            </a:r>
            <a:r>
              <a:rPr lang="pt-BR" sz="2000" dirty="0" err="1"/>
              <a:t>Doodle</a:t>
            </a:r>
            <a:r>
              <a:rPr lang="pt-BR" sz="2000" dirty="0"/>
              <a:t>” um </a:t>
            </a:r>
            <a:r>
              <a:rPr lang="pt-BR" sz="2000" dirty="0" err="1"/>
              <a:t>ukelele</a:t>
            </a:r>
            <a:r>
              <a:rPr lang="pt-BR" sz="2000" dirty="0"/>
              <a:t> feito de plástico.</a:t>
            </a:r>
          </a:p>
          <a:p>
            <a:pPr marL="0" indent="0">
              <a:buNone/>
            </a:pPr>
            <a:r>
              <a:rPr lang="pt-BR" sz="2000" dirty="0"/>
              <a:t>Porém, o olhar aguçado de Ruth para o comportamento infantil foi além e acabou ditando o rumo da empresa. Ruth observava uma grande lacuna no mercado: bonecas que representassem aspirações de meninas, não apenas bebês. Dessa visão nasceu a </a:t>
            </a:r>
            <a:r>
              <a:rPr lang="pt-BR" sz="2000" b="1" dirty="0"/>
              <a:t>Barbie</a:t>
            </a:r>
            <a:r>
              <a:rPr lang="pt-BR" sz="2000" dirty="0"/>
              <a:t>, lançada em 1959. O sucesso imediato da boneca transformou Ruth na grande mente responsável pelo crescimento explosivo da </a:t>
            </a:r>
            <a:r>
              <a:rPr lang="pt-BR" sz="2000" dirty="0" err="1"/>
              <a:t>Mattel</a:t>
            </a:r>
            <a:r>
              <a:rPr lang="pt-BR" sz="2000" dirty="0"/>
              <a:t> e pavimentou seu nome na história dos brinquedos.</a:t>
            </a:r>
          </a:p>
        </p:txBody>
      </p:sp>
      <p:pic>
        <p:nvPicPr>
          <p:cNvPr id="1026" name="Picture 2" descr="Elliot Handler">
            <a:extLst>
              <a:ext uri="{FF2B5EF4-FFF2-40B4-BE49-F238E27FC236}">
                <a16:creationId xmlns:a16="http://schemas.microsoft.com/office/drawing/2014/main" id="{16C57461-64B5-429E-9D3F-EF9E9FE4C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793" y="5569509"/>
            <a:ext cx="5795847" cy="386389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59E42DEB-DEE8-4E57-BE13-A04F6D39F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49CF2-B3F8-43E0-914E-7339EF572EFE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914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1D154CA8-0050-44F8-A51D-C1668CE8C09E}"/>
              </a:ext>
            </a:extLst>
          </p:cNvPr>
          <p:cNvSpPr/>
          <p:nvPr/>
        </p:nvSpPr>
        <p:spPr>
          <a:xfrm>
            <a:off x="0" y="0"/>
            <a:ext cx="6858000" cy="990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Título">
            <a:extLst>
              <a:ext uri="{FF2B5EF4-FFF2-40B4-BE49-F238E27FC236}">
                <a16:creationId xmlns:a16="http://schemas.microsoft.com/office/drawing/2014/main" id="{9AC7BF4E-8E57-42CF-8E7D-F340AA3CAA37}"/>
              </a:ext>
            </a:extLst>
          </p:cNvPr>
          <p:cNvSpPr txBox="1">
            <a:spLocks/>
          </p:cNvSpPr>
          <p:nvPr/>
        </p:nvSpPr>
        <p:spPr>
          <a:xfrm>
            <a:off x="471485" y="6602506"/>
            <a:ext cx="5915025" cy="18577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dirty="0">
                <a:solidFill>
                  <a:srgbClr val="F8C340"/>
                </a:solidFill>
                <a:latin typeface="Impact" panose="020B0806030902050204" pitchFamily="34" charset="0"/>
              </a:rPr>
              <a:t>O Inventor Que Não Desistia: As Frustrações de Elliot</a:t>
            </a:r>
            <a:endParaRPr lang="pt-BR" sz="6600" dirty="0">
              <a:solidFill>
                <a:srgbClr val="F8C340"/>
              </a:solidFill>
              <a:latin typeface="Impact" panose="020B0806030902050204" pitchFamily="34" charset="0"/>
            </a:endParaRPr>
          </a:p>
        </p:txBody>
      </p:sp>
      <p:sp>
        <p:nvSpPr>
          <p:cNvPr id="9" name="Título">
            <a:extLst>
              <a:ext uri="{FF2B5EF4-FFF2-40B4-BE49-F238E27FC236}">
                <a16:creationId xmlns:a16="http://schemas.microsoft.com/office/drawing/2014/main" id="{C3BE97D5-B4C9-4F5C-8603-A830AB8F546E}"/>
              </a:ext>
            </a:extLst>
          </p:cNvPr>
          <p:cNvSpPr txBox="1">
            <a:spLocks/>
          </p:cNvSpPr>
          <p:nvPr/>
        </p:nvSpPr>
        <p:spPr>
          <a:xfrm>
            <a:off x="471487" y="6011808"/>
            <a:ext cx="1101820" cy="4563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6000" dirty="0">
                <a:solidFill>
                  <a:srgbClr val="E94527"/>
                </a:solidFill>
                <a:latin typeface="Impact" panose="020B0806030902050204" pitchFamily="34" charset="0"/>
              </a:rPr>
              <a:t>02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00491146-7FBA-4A27-983B-C2DABB4FC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49CF2-B3F8-43E0-914E-7339EF572EFE}" type="slidenum">
              <a:rPr lang="pt-BR" smtClean="0">
                <a:solidFill>
                  <a:schemeClr val="bg1"/>
                </a:solidFill>
              </a:rPr>
              <a:t>4</a:t>
            </a:fld>
            <a:endParaRPr lang="pt-B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6389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">
            <a:extLst>
              <a:ext uri="{FF2B5EF4-FFF2-40B4-BE49-F238E27FC236}">
                <a16:creationId xmlns:a16="http://schemas.microsoft.com/office/drawing/2014/main" id="{9AC7BF4E-8E57-42CF-8E7D-F340AA3CAA37}"/>
              </a:ext>
            </a:extLst>
          </p:cNvPr>
          <p:cNvSpPr txBox="1">
            <a:spLocks/>
          </p:cNvSpPr>
          <p:nvPr/>
        </p:nvSpPr>
        <p:spPr>
          <a:xfrm>
            <a:off x="860614" y="472593"/>
            <a:ext cx="5809128" cy="70136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dirty="0">
                <a:solidFill>
                  <a:srgbClr val="F8C340"/>
                </a:solidFill>
                <a:latin typeface="Impact" panose="020B0806030902050204" pitchFamily="34" charset="0"/>
              </a:rPr>
              <a:t>O Inventor Que Não Desistia: As Frustrações de Elliot</a:t>
            </a:r>
            <a:endParaRPr lang="pt-BR" sz="4400" dirty="0">
              <a:solidFill>
                <a:srgbClr val="F8C340"/>
              </a:solidFill>
              <a:latin typeface="Impact" panose="020B0806030902050204" pitchFamily="34" charset="0"/>
            </a:endParaRPr>
          </a:p>
        </p:txBody>
      </p:sp>
      <p:sp>
        <p:nvSpPr>
          <p:cNvPr id="9" name="Título">
            <a:extLst>
              <a:ext uri="{FF2B5EF4-FFF2-40B4-BE49-F238E27FC236}">
                <a16:creationId xmlns:a16="http://schemas.microsoft.com/office/drawing/2014/main" id="{C3BE97D5-B4C9-4F5C-8603-A830AB8F546E}"/>
              </a:ext>
            </a:extLst>
          </p:cNvPr>
          <p:cNvSpPr txBox="1">
            <a:spLocks/>
          </p:cNvSpPr>
          <p:nvPr/>
        </p:nvSpPr>
        <p:spPr>
          <a:xfrm>
            <a:off x="350462" y="472593"/>
            <a:ext cx="698410" cy="4563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200" dirty="0">
                <a:solidFill>
                  <a:srgbClr val="E94527"/>
                </a:solidFill>
                <a:latin typeface="Impact" panose="020B0806030902050204" pitchFamily="34" charset="0"/>
              </a:rPr>
              <a:t>02</a:t>
            </a:r>
          </a:p>
        </p:txBody>
      </p:sp>
      <p:sp>
        <p:nvSpPr>
          <p:cNvPr id="6" name="Texto">
            <a:extLst>
              <a:ext uri="{FF2B5EF4-FFF2-40B4-BE49-F238E27FC236}">
                <a16:creationId xmlns:a16="http://schemas.microsoft.com/office/drawing/2014/main" id="{008B5327-025C-4D27-BBFB-6C6BD1A70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359" y="1356274"/>
            <a:ext cx="6213383" cy="4229690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pt-BR" sz="1900" dirty="0"/>
              <a:t>Para Elliot, acompanhar o êxito monumental da esposa não era fácil, especialmente em uma época onde o ego masculino era um elemento muito mais sensível e socialmente cobrado. </a:t>
            </a:r>
            <a:br>
              <a:rPr lang="pt-BR" sz="1900" dirty="0"/>
            </a:br>
            <a:r>
              <a:rPr lang="pt-BR" sz="1900" dirty="0"/>
              <a:t>Suas invenções até então não alcançavam o mesmo patamar da Barbie. Críticos internos e do mercado enxergavam Ruth como o pilar da empresa, enquanto Elliot precisava provar que também poderia criar algo icônico.</a:t>
            </a:r>
            <a:br>
              <a:rPr lang="pt-BR" sz="1900" dirty="0"/>
            </a:br>
            <a:r>
              <a:rPr lang="pt-BR" sz="1900" dirty="0"/>
              <a:t>Mas ele não desistiu. Elliot protagonizou o lançamento de vários produtos, dentre eles o icônico </a:t>
            </a:r>
            <a:r>
              <a:rPr lang="pt-BR" sz="1900" dirty="0" err="1"/>
              <a:t>Mattel</a:t>
            </a:r>
            <a:r>
              <a:rPr lang="pt-BR" sz="1900" dirty="0"/>
              <a:t> Dream Mobile (1953). Foi o primeiro veículo de brinquedo da </a:t>
            </a:r>
            <a:r>
              <a:rPr lang="pt-BR" sz="1900" dirty="0" err="1"/>
              <a:t>Mattel</a:t>
            </a:r>
            <a:r>
              <a:rPr lang="pt-BR" sz="1900" dirty="0"/>
              <a:t>, desenhado pelo próprio Elliot </a:t>
            </a:r>
            <a:r>
              <a:rPr lang="pt-BR" sz="1900" dirty="0" err="1"/>
              <a:t>Handler</a:t>
            </a:r>
            <a:r>
              <a:rPr lang="pt-BR" sz="1900" dirty="0"/>
              <a:t>. Era um carro de brinquedo de fricção com um design futurista, característico da "era dos carros-conceito" dos anos 1950.</a:t>
            </a:r>
          </a:p>
        </p:txBody>
      </p:sp>
      <p:pic>
        <p:nvPicPr>
          <p:cNvPr id="2050" name="Picture 2" descr="Hot Wheels Dream Mobile Mattel Dream Car | Hot Wheels">
            <a:extLst>
              <a:ext uri="{FF2B5EF4-FFF2-40B4-BE49-F238E27FC236}">
                <a16:creationId xmlns:a16="http://schemas.microsoft.com/office/drawing/2014/main" id="{5F169175-880F-44A7-9297-C0226616FB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43" b="12745"/>
          <a:stretch/>
        </p:blipFill>
        <p:spPr bwMode="auto">
          <a:xfrm>
            <a:off x="456359" y="5831016"/>
            <a:ext cx="5945282" cy="3317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00EA693D-5DE3-4D19-B02E-F294A236B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49CF2-B3F8-43E0-914E-7339EF572EFE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6347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1D154CA8-0050-44F8-A51D-C1668CE8C09E}"/>
              </a:ext>
            </a:extLst>
          </p:cNvPr>
          <p:cNvSpPr/>
          <p:nvPr/>
        </p:nvSpPr>
        <p:spPr>
          <a:xfrm>
            <a:off x="0" y="0"/>
            <a:ext cx="6858000" cy="990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Título">
            <a:extLst>
              <a:ext uri="{FF2B5EF4-FFF2-40B4-BE49-F238E27FC236}">
                <a16:creationId xmlns:a16="http://schemas.microsoft.com/office/drawing/2014/main" id="{9AC7BF4E-8E57-42CF-8E7D-F340AA3CAA37}"/>
              </a:ext>
            </a:extLst>
          </p:cNvPr>
          <p:cNvSpPr txBox="1">
            <a:spLocks/>
          </p:cNvSpPr>
          <p:nvPr/>
        </p:nvSpPr>
        <p:spPr>
          <a:xfrm>
            <a:off x="471485" y="6602506"/>
            <a:ext cx="5915025" cy="18577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dirty="0">
                <a:solidFill>
                  <a:srgbClr val="F8C340"/>
                </a:solidFill>
                <a:latin typeface="Impact" panose="020B0806030902050204" pitchFamily="34" charset="0"/>
              </a:rPr>
              <a:t>A Inspiração na Mesa: </a:t>
            </a:r>
            <a:r>
              <a:rPr lang="pt-BR" sz="4000" dirty="0" err="1">
                <a:solidFill>
                  <a:srgbClr val="F8C340"/>
                </a:solidFill>
                <a:latin typeface="Impact" panose="020B0806030902050204" pitchFamily="34" charset="0"/>
              </a:rPr>
              <a:t>Matchbox</a:t>
            </a:r>
            <a:r>
              <a:rPr lang="pt-BR" sz="4000" dirty="0">
                <a:solidFill>
                  <a:srgbClr val="F8C340"/>
                </a:solidFill>
                <a:latin typeface="Impact" panose="020B0806030902050204" pitchFamily="34" charset="0"/>
              </a:rPr>
              <a:t> no Escritório</a:t>
            </a:r>
            <a:endParaRPr lang="pt-BR" sz="6600" dirty="0">
              <a:solidFill>
                <a:srgbClr val="F8C340"/>
              </a:solidFill>
              <a:latin typeface="Impact" panose="020B0806030902050204" pitchFamily="34" charset="0"/>
            </a:endParaRPr>
          </a:p>
        </p:txBody>
      </p:sp>
      <p:sp>
        <p:nvSpPr>
          <p:cNvPr id="9" name="Título">
            <a:extLst>
              <a:ext uri="{FF2B5EF4-FFF2-40B4-BE49-F238E27FC236}">
                <a16:creationId xmlns:a16="http://schemas.microsoft.com/office/drawing/2014/main" id="{C3BE97D5-B4C9-4F5C-8603-A830AB8F546E}"/>
              </a:ext>
            </a:extLst>
          </p:cNvPr>
          <p:cNvSpPr txBox="1">
            <a:spLocks/>
          </p:cNvSpPr>
          <p:nvPr/>
        </p:nvSpPr>
        <p:spPr>
          <a:xfrm>
            <a:off x="471487" y="6011808"/>
            <a:ext cx="1101820" cy="4563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6000" dirty="0">
                <a:solidFill>
                  <a:srgbClr val="E94527"/>
                </a:solidFill>
                <a:latin typeface="Impact" panose="020B0806030902050204" pitchFamily="34" charset="0"/>
              </a:rPr>
              <a:t>03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065B8172-9282-4FAA-AAAB-BE6833FE5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49CF2-B3F8-43E0-914E-7339EF572EFE}" type="slidenum">
              <a:rPr lang="pt-BR" smtClean="0">
                <a:solidFill>
                  <a:schemeClr val="bg1"/>
                </a:solidFill>
              </a:rPr>
              <a:t>6</a:t>
            </a:fld>
            <a:endParaRPr lang="pt-B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1267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">
            <a:extLst>
              <a:ext uri="{FF2B5EF4-FFF2-40B4-BE49-F238E27FC236}">
                <a16:creationId xmlns:a16="http://schemas.microsoft.com/office/drawing/2014/main" id="{9AC7BF4E-8E57-42CF-8E7D-F340AA3CAA37}"/>
              </a:ext>
            </a:extLst>
          </p:cNvPr>
          <p:cNvSpPr txBox="1">
            <a:spLocks/>
          </p:cNvSpPr>
          <p:nvPr/>
        </p:nvSpPr>
        <p:spPr>
          <a:xfrm>
            <a:off x="860614" y="472593"/>
            <a:ext cx="5809128" cy="70136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dirty="0">
                <a:solidFill>
                  <a:srgbClr val="F8C340"/>
                </a:solidFill>
                <a:latin typeface="Impact" panose="020B0806030902050204" pitchFamily="34" charset="0"/>
              </a:rPr>
              <a:t>A Inspiração na Mesa: </a:t>
            </a:r>
            <a:r>
              <a:rPr lang="pt-BR" sz="2400" dirty="0" err="1">
                <a:solidFill>
                  <a:srgbClr val="F8C340"/>
                </a:solidFill>
                <a:latin typeface="Impact" panose="020B0806030902050204" pitchFamily="34" charset="0"/>
              </a:rPr>
              <a:t>Matchbox</a:t>
            </a:r>
            <a:r>
              <a:rPr lang="pt-BR" sz="2400" dirty="0">
                <a:solidFill>
                  <a:srgbClr val="F8C340"/>
                </a:solidFill>
                <a:latin typeface="Impact" panose="020B0806030902050204" pitchFamily="34" charset="0"/>
              </a:rPr>
              <a:t> no Escritório</a:t>
            </a:r>
            <a:endParaRPr lang="pt-BR" sz="4400" dirty="0">
              <a:solidFill>
                <a:srgbClr val="F8C340"/>
              </a:solidFill>
              <a:latin typeface="Impact" panose="020B0806030902050204" pitchFamily="34" charset="0"/>
            </a:endParaRPr>
          </a:p>
        </p:txBody>
      </p:sp>
      <p:sp>
        <p:nvSpPr>
          <p:cNvPr id="9" name="Título">
            <a:extLst>
              <a:ext uri="{FF2B5EF4-FFF2-40B4-BE49-F238E27FC236}">
                <a16:creationId xmlns:a16="http://schemas.microsoft.com/office/drawing/2014/main" id="{C3BE97D5-B4C9-4F5C-8603-A830AB8F546E}"/>
              </a:ext>
            </a:extLst>
          </p:cNvPr>
          <p:cNvSpPr txBox="1">
            <a:spLocks/>
          </p:cNvSpPr>
          <p:nvPr/>
        </p:nvSpPr>
        <p:spPr>
          <a:xfrm>
            <a:off x="350462" y="472593"/>
            <a:ext cx="698410" cy="4563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200" dirty="0">
                <a:solidFill>
                  <a:srgbClr val="E94527"/>
                </a:solidFill>
                <a:latin typeface="Impact" panose="020B0806030902050204" pitchFamily="34" charset="0"/>
              </a:rPr>
              <a:t>03</a:t>
            </a:r>
          </a:p>
        </p:txBody>
      </p:sp>
      <p:sp>
        <p:nvSpPr>
          <p:cNvPr id="6" name="Texto">
            <a:extLst>
              <a:ext uri="{FF2B5EF4-FFF2-40B4-BE49-F238E27FC236}">
                <a16:creationId xmlns:a16="http://schemas.microsoft.com/office/drawing/2014/main" id="{008B5327-025C-4D27-BBFB-6C6BD1A70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359" y="1356274"/>
            <a:ext cx="6213383" cy="3928420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pt-BR" sz="1900" dirty="0"/>
              <a:t>Um dia, observando o neto brincando com carrinhos </a:t>
            </a:r>
            <a:r>
              <a:rPr lang="pt-BR" sz="1900" dirty="0" err="1"/>
              <a:t>Matchbox</a:t>
            </a:r>
            <a:r>
              <a:rPr lang="pt-BR" sz="1900" dirty="0"/>
              <a:t> sobre a mesa do escritório, Elliot teve um estalo: aqueles carrinhos eram realmente os melhores que existiam? “Sério que esse carrinho que nem anda domina o mercado assim?”</a:t>
            </a:r>
            <a:br>
              <a:rPr lang="pt-BR" sz="1900" dirty="0"/>
            </a:br>
            <a:r>
              <a:rPr lang="pt-BR" sz="1900" dirty="0"/>
              <a:t>Ele acreditava que a experiência podia ser muito mais emocionante. Carrinhos mais rápidos, mais estilosos, com personalidade, verdadeiros mini carros de corrida. </a:t>
            </a:r>
            <a:br>
              <a:rPr lang="pt-BR" sz="1900" dirty="0"/>
            </a:br>
            <a:r>
              <a:rPr lang="pt-BR" sz="1900" dirty="0"/>
              <a:t>A partir dessa pergunta nasceu uma ideia que mudaria tudo: Criar os carrinhos mais rápidos do mundo: Hot </a:t>
            </a:r>
            <a:r>
              <a:rPr lang="pt-BR" sz="1900" dirty="0" err="1"/>
              <a:t>Wheels</a:t>
            </a:r>
            <a:r>
              <a:rPr lang="pt-BR" sz="1900" dirty="0"/>
              <a:t>, os verdadeiros “Rodas Quentes”.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591BC48-9808-4BA1-8BC3-B1083613D8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065" y="5467008"/>
            <a:ext cx="6049970" cy="366060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67DAB85-7659-44A7-B6FF-51A1663CE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49CF2-B3F8-43E0-914E-7339EF572EFE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7833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1D154CA8-0050-44F8-A51D-C1668CE8C09E}"/>
              </a:ext>
            </a:extLst>
          </p:cNvPr>
          <p:cNvSpPr/>
          <p:nvPr/>
        </p:nvSpPr>
        <p:spPr>
          <a:xfrm>
            <a:off x="0" y="0"/>
            <a:ext cx="6858000" cy="990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Título">
            <a:extLst>
              <a:ext uri="{FF2B5EF4-FFF2-40B4-BE49-F238E27FC236}">
                <a16:creationId xmlns:a16="http://schemas.microsoft.com/office/drawing/2014/main" id="{9AC7BF4E-8E57-42CF-8E7D-F340AA3CAA37}"/>
              </a:ext>
            </a:extLst>
          </p:cNvPr>
          <p:cNvSpPr txBox="1">
            <a:spLocks/>
          </p:cNvSpPr>
          <p:nvPr/>
        </p:nvSpPr>
        <p:spPr>
          <a:xfrm>
            <a:off x="471485" y="6602506"/>
            <a:ext cx="5915025" cy="18577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dirty="0">
                <a:solidFill>
                  <a:srgbClr val="F8C340"/>
                </a:solidFill>
                <a:latin typeface="Impact" panose="020B0806030902050204" pitchFamily="34" charset="0"/>
              </a:rPr>
              <a:t>O Nascimento dos Hot </a:t>
            </a:r>
            <a:r>
              <a:rPr lang="pt-BR" sz="4000" dirty="0" err="1">
                <a:solidFill>
                  <a:srgbClr val="F8C340"/>
                </a:solidFill>
                <a:latin typeface="Impact" panose="020B0806030902050204" pitchFamily="34" charset="0"/>
              </a:rPr>
              <a:t>Wheels</a:t>
            </a:r>
            <a:r>
              <a:rPr lang="pt-BR" sz="4000" dirty="0">
                <a:solidFill>
                  <a:srgbClr val="F8C340"/>
                </a:solidFill>
                <a:latin typeface="Impact" panose="020B0806030902050204" pitchFamily="34" charset="0"/>
              </a:rPr>
              <a:t>: Sweet 16</a:t>
            </a:r>
            <a:endParaRPr lang="pt-BR" sz="6600" dirty="0">
              <a:solidFill>
                <a:srgbClr val="F8C340"/>
              </a:solidFill>
              <a:latin typeface="Impact" panose="020B0806030902050204" pitchFamily="34" charset="0"/>
            </a:endParaRPr>
          </a:p>
        </p:txBody>
      </p:sp>
      <p:sp>
        <p:nvSpPr>
          <p:cNvPr id="9" name="Título">
            <a:extLst>
              <a:ext uri="{FF2B5EF4-FFF2-40B4-BE49-F238E27FC236}">
                <a16:creationId xmlns:a16="http://schemas.microsoft.com/office/drawing/2014/main" id="{C3BE97D5-B4C9-4F5C-8603-A830AB8F546E}"/>
              </a:ext>
            </a:extLst>
          </p:cNvPr>
          <p:cNvSpPr txBox="1">
            <a:spLocks/>
          </p:cNvSpPr>
          <p:nvPr/>
        </p:nvSpPr>
        <p:spPr>
          <a:xfrm>
            <a:off x="471487" y="6011808"/>
            <a:ext cx="1101820" cy="4563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6000" dirty="0">
                <a:solidFill>
                  <a:srgbClr val="E94527"/>
                </a:solidFill>
                <a:latin typeface="Impact" panose="020B0806030902050204" pitchFamily="34" charset="0"/>
              </a:rPr>
              <a:t>04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7B4A90C5-1432-459A-84AE-5B3FA7B1E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49CF2-B3F8-43E0-914E-7339EF572EFE}" type="slidenum">
              <a:rPr lang="pt-BR" smtClean="0">
                <a:solidFill>
                  <a:schemeClr val="bg1"/>
                </a:solidFill>
              </a:rPr>
              <a:t>8</a:t>
            </a:fld>
            <a:endParaRPr lang="pt-B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4131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">
            <a:extLst>
              <a:ext uri="{FF2B5EF4-FFF2-40B4-BE49-F238E27FC236}">
                <a16:creationId xmlns:a16="http://schemas.microsoft.com/office/drawing/2014/main" id="{9AC7BF4E-8E57-42CF-8E7D-F340AA3CAA37}"/>
              </a:ext>
            </a:extLst>
          </p:cNvPr>
          <p:cNvSpPr txBox="1">
            <a:spLocks/>
          </p:cNvSpPr>
          <p:nvPr/>
        </p:nvSpPr>
        <p:spPr>
          <a:xfrm>
            <a:off x="860614" y="350066"/>
            <a:ext cx="5809128" cy="70136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dirty="0">
                <a:solidFill>
                  <a:srgbClr val="F8C340"/>
                </a:solidFill>
                <a:latin typeface="Impact" panose="020B0806030902050204" pitchFamily="34" charset="0"/>
              </a:rPr>
              <a:t>O Nascimento dos Hot </a:t>
            </a:r>
            <a:r>
              <a:rPr lang="pt-BR" sz="2400" dirty="0" err="1">
                <a:solidFill>
                  <a:srgbClr val="F8C340"/>
                </a:solidFill>
                <a:latin typeface="Impact" panose="020B0806030902050204" pitchFamily="34" charset="0"/>
              </a:rPr>
              <a:t>Wheels</a:t>
            </a:r>
            <a:r>
              <a:rPr lang="pt-BR" sz="2400" dirty="0">
                <a:solidFill>
                  <a:srgbClr val="F8C340"/>
                </a:solidFill>
                <a:latin typeface="Impact" panose="020B0806030902050204" pitchFamily="34" charset="0"/>
              </a:rPr>
              <a:t>: Sweet 16</a:t>
            </a:r>
            <a:endParaRPr lang="pt-BR" sz="4400" dirty="0">
              <a:solidFill>
                <a:srgbClr val="F8C340"/>
              </a:solidFill>
              <a:latin typeface="Impact" panose="020B0806030902050204" pitchFamily="34" charset="0"/>
            </a:endParaRPr>
          </a:p>
        </p:txBody>
      </p:sp>
      <p:sp>
        <p:nvSpPr>
          <p:cNvPr id="9" name="Título">
            <a:extLst>
              <a:ext uri="{FF2B5EF4-FFF2-40B4-BE49-F238E27FC236}">
                <a16:creationId xmlns:a16="http://schemas.microsoft.com/office/drawing/2014/main" id="{C3BE97D5-B4C9-4F5C-8603-A830AB8F546E}"/>
              </a:ext>
            </a:extLst>
          </p:cNvPr>
          <p:cNvSpPr txBox="1">
            <a:spLocks/>
          </p:cNvSpPr>
          <p:nvPr/>
        </p:nvSpPr>
        <p:spPr>
          <a:xfrm>
            <a:off x="350462" y="472593"/>
            <a:ext cx="698410" cy="4563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200" dirty="0">
                <a:solidFill>
                  <a:srgbClr val="E94527"/>
                </a:solidFill>
                <a:latin typeface="Impact" panose="020B0806030902050204" pitchFamily="34" charset="0"/>
              </a:rPr>
              <a:t>04</a:t>
            </a:r>
          </a:p>
        </p:txBody>
      </p:sp>
      <p:sp>
        <p:nvSpPr>
          <p:cNvPr id="6" name="Texto">
            <a:extLst>
              <a:ext uri="{FF2B5EF4-FFF2-40B4-BE49-F238E27FC236}">
                <a16:creationId xmlns:a16="http://schemas.microsoft.com/office/drawing/2014/main" id="{008B5327-025C-4D27-BBFB-6C6BD1A70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359" y="1356274"/>
            <a:ext cx="6213383" cy="4748692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pt-BR" sz="1900" dirty="0"/>
              <a:t>Em 1968, Elliot recrutou o designer Harry Bentley Bradley, </a:t>
            </a:r>
            <a:r>
              <a:rPr lang="pt-BR" sz="1900" dirty="0" err="1"/>
              <a:t>ex-GM</a:t>
            </a:r>
            <a:r>
              <a:rPr lang="pt-BR" sz="1900" dirty="0"/>
              <a:t> responsável por projetos automotivos futuristas.</a:t>
            </a:r>
            <a:br>
              <a:rPr lang="pt-BR" sz="1900" dirty="0"/>
            </a:br>
            <a:r>
              <a:rPr lang="pt-BR" sz="1900" dirty="0"/>
              <a:t>Juntos criaram os primeiros modelos de Hot </a:t>
            </a:r>
            <a:r>
              <a:rPr lang="pt-BR" sz="1900" dirty="0" err="1"/>
              <a:t>Wheels</a:t>
            </a:r>
            <a:r>
              <a:rPr lang="pt-BR" sz="1900" dirty="0"/>
              <a:t>: Os lendários Sweet 16, os primeiros 16 carrinhos, lendários nos dias atuais, valendo milhares de dólares encontrados em perfeito estado.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pt-BR" sz="1900" dirty="0"/>
              <a:t>Entre eles, o primogênito: </a:t>
            </a:r>
            <a:r>
              <a:rPr lang="pt-BR" sz="1900" dirty="0" err="1"/>
              <a:t>Custom</a:t>
            </a:r>
            <a:r>
              <a:rPr lang="pt-BR" sz="1900" dirty="0"/>
              <a:t> </a:t>
            </a:r>
            <a:r>
              <a:rPr lang="pt-BR" sz="1900" dirty="0" err="1"/>
              <a:t>Camaro</a:t>
            </a:r>
            <a:r>
              <a:rPr lang="pt-BR" sz="1900" dirty="0"/>
              <a:t> Branco (protótipo) → considerado o primeiro Hot </a:t>
            </a:r>
            <a:r>
              <a:rPr lang="pt-BR" sz="1900" dirty="0" err="1"/>
              <a:t>Wheels</a:t>
            </a:r>
            <a:r>
              <a:rPr lang="pt-BR" sz="1900" dirty="0"/>
              <a:t> da história.</a:t>
            </a:r>
            <a:br>
              <a:rPr lang="pt-BR" sz="1900" dirty="0"/>
            </a:br>
            <a:r>
              <a:rPr lang="pt-BR" sz="1900" dirty="0"/>
              <a:t>Os Hot </a:t>
            </a:r>
            <a:r>
              <a:rPr lang="pt-BR" sz="1900" dirty="0" err="1"/>
              <a:t>Wheels</a:t>
            </a:r>
            <a:r>
              <a:rPr lang="pt-BR" sz="1900" dirty="0"/>
              <a:t> eram diferentes de tudo: possuíam rodas especiais que deslizavam rápido, cores vibrantes e pintura “</a:t>
            </a:r>
            <a:r>
              <a:rPr lang="pt-BR" sz="1900" dirty="0" err="1"/>
              <a:t>Spectraflame</a:t>
            </a:r>
            <a:r>
              <a:rPr lang="pt-BR" sz="1900" dirty="0"/>
              <a:t>”, Modelos radicais inspirados em hot </a:t>
            </a:r>
            <a:r>
              <a:rPr lang="pt-BR" sz="1900" dirty="0" err="1"/>
              <a:t>rods</a:t>
            </a:r>
            <a:r>
              <a:rPr lang="pt-BR" sz="1900" dirty="0"/>
              <a:t> americanos e mecanismos que imitavam suspensão dos carros reais. As crianças não apenas empurravam carrinhos… elas corriam e simulavam os reais com eles.</a:t>
            </a:r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B29EDE77-F3C3-4753-BEC0-33E6F58247AE}"/>
              </a:ext>
            </a:extLst>
          </p:cNvPr>
          <p:cNvGrpSpPr/>
          <p:nvPr/>
        </p:nvGrpSpPr>
        <p:grpSpPr>
          <a:xfrm>
            <a:off x="456359" y="6104966"/>
            <a:ext cx="1923770" cy="2271009"/>
            <a:chOff x="554755" y="6260216"/>
            <a:chExt cx="1779516" cy="2093549"/>
          </a:xfrm>
        </p:grpSpPr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356E64E9-755B-4CCF-A7B5-CF22852135DC}"/>
                </a:ext>
              </a:extLst>
            </p:cNvPr>
            <p:cNvSpPr/>
            <p:nvPr/>
          </p:nvSpPr>
          <p:spPr>
            <a:xfrm>
              <a:off x="554755" y="6260216"/>
              <a:ext cx="1779516" cy="2093549"/>
            </a:xfrm>
            <a:prstGeom prst="rect">
              <a:avLst/>
            </a:prstGeom>
            <a:ln>
              <a:solidFill>
                <a:srgbClr val="E94527"/>
              </a:solidFill>
            </a:ln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0" name="Retângulo 9" descr="Hot Kengas Group Brasil: HARRY BENTLEY BRADLEY - A VERDADEIRA LENDA DO  DESIGN DA HOT WHEELS DE TODOS OS TEMPOS">
              <a:extLst>
                <a:ext uri="{FF2B5EF4-FFF2-40B4-BE49-F238E27FC236}">
                  <a16:creationId xmlns:a16="http://schemas.microsoft.com/office/drawing/2014/main" id="{5405C62B-CAAA-4439-912F-0D30C4F29CF3}"/>
                </a:ext>
              </a:extLst>
            </p:cNvPr>
            <p:cNvSpPr/>
            <p:nvPr/>
          </p:nvSpPr>
          <p:spPr>
            <a:xfrm>
              <a:off x="643731" y="6343958"/>
              <a:ext cx="1601565" cy="1360806"/>
            </a:xfrm>
            <a:prstGeom prst="rect">
              <a:avLst/>
            </a:prstGeom>
            <a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t="-7000" b="-7000"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1" name="Forma Livre: Forma 10">
              <a:extLst>
                <a:ext uri="{FF2B5EF4-FFF2-40B4-BE49-F238E27FC236}">
                  <a16:creationId xmlns:a16="http://schemas.microsoft.com/office/drawing/2014/main" id="{234E4C10-A596-4C66-AD85-1A56D5888EDE}"/>
                </a:ext>
              </a:extLst>
            </p:cNvPr>
            <p:cNvSpPr/>
            <p:nvPr/>
          </p:nvSpPr>
          <p:spPr>
            <a:xfrm>
              <a:off x="643731" y="7704765"/>
              <a:ext cx="1601565" cy="565258"/>
            </a:xfrm>
            <a:custGeom>
              <a:avLst/>
              <a:gdLst>
                <a:gd name="connsiteX0" fmla="*/ 0 w 1601565"/>
                <a:gd name="connsiteY0" fmla="*/ 0 h 565258"/>
                <a:gd name="connsiteX1" fmla="*/ 1601565 w 1601565"/>
                <a:gd name="connsiteY1" fmla="*/ 0 h 565258"/>
                <a:gd name="connsiteX2" fmla="*/ 1601565 w 1601565"/>
                <a:gd name="connsiteY2" fmla="*/ 565258 h 565258"/>
                <a:gd name="connsiteX3" fmla="*/ 0 w 1601565"/>
                <a:gd name="connsiteY3" fmla="*/ 565258 h 565258"/>
                <a:gd name="connsiteX4" fmla="*/ 0 w 1601565"/>
                <a:gd name="connsiteY4" fmla="*/ 0 h 565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1565" h="565258">
                  <a:moveTo>
                    <a:pt x="0" y="0"/>
                  </a:moveTo>
                  <a:lnTo>
                    <a:pt x="1601565" y="0"/>
                  </a:lnTo>
                  <a:lnTo>
                    <a:pt x="1601565" y="565258"/>
                  </a:lnTo>
                  <a:lnTo>
                    <a:pt x="0" y="565258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pt-BR" sz="1200" kern="1200" dirty="0"/>
                <a:t>Harry Bradley</a:t>
              </a:r>
            </a:p>
          </p:txBody>
        </p:sp>
      </p:grp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1F43D7E1-8849-4026-B027-ECC6AE206C78}"/>
              </a:ext>
            </a:extLst>
          </p:cNvPr>
          <p:cNvGrpSpPr/>
          <p:nvPr/>
        </p:nvGrpSpPr>
        <p:grpSpPr>
          <a:xfrm>
            <a:off x="2473744" y="6409806"/>
            <a:ext cx="2080328" cy="2398389"/>
            <a:chOff x="2673291" y="6260216"/>
            <a:chExt cx="1779516" cy="2093549"/>
          </a:xfrm>
        </p:grpSpPr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8CCA4B6B-6073-42B2-B792-2572ECCCB06F}"/>
                </a:ext>
              </a:extLst>
            </p:cNvPr>
            <p:cNvSpPr/>
            <p:nvPr/>
          </p:nvSpPr>
          <p:spPr>
            <a:xfrm>
              <a:off x="2673291" y="6260216"/>
              <a:ext cx="1779516" cy="2093549"/>
            </a:xfrm>
            <a:prstGeom prst="rect">
              <a:avLst/>
            </a:prstGeom>
            <a:ln>
              <a:solidFill>
                <a:srgbClr val="F8C340"/>
              </a:solidFill>
            </a:ln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3" name="Retângulo 12" descr="Camaro de brinquedo da Hot Wheels vale mais de R$ 400 mil - Estadão">
              <a:extLst>
                <a:ext uri="{FF2B5EF4-FFF2-40B4-BE49-F238E27FC236}">
                  <a16:creationId xmlns:a16="http://schemas.microsoft.com/office/drawing/2014/main" id="{AD2DF779-3DBB-433B-84B9-22FAA3CD6B91}"/>
                </a:ext>
              </a:extLst>
            </p:cNvPr>
            <p:cNvSpPr/>
            <p:nvPr/>
          </p:nvSpPr>
          <p:spPr>
            <a:xfrm>
              <a:off x="2762267" y="6343958"/>
              <a:ext cx="1601565" cy="1360806"/>
            </a:xfrm>
            <a:prstGeom prst="rect">
              <a:avLst/>
            </a:prstGeom>
            <a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l="-14000" r="-14000"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pt-BR" dirty="0"/>
            </a:p>
          </p:txBody>
        </p:sp>
        <p:sp>
          <p:nvSpPr>
            <p:cNvPr id="14" name="Forma Livre: Forma 13">
              <a:extLst>
                <a:ext uri="{FF2B5EF4-FFF2-40B4-BE49-F238E27FC236}">
                  <a16:creationId xmlns:a16="http://schemas.microsoft.com/office/drawing/2014/main" id="{BABAF1D7-2A48-4542-B190-6634A4E46574}"/>
                </a:ext>
              </a:extLst>
            </p:cNvPr>
            <p:cNvSpPr/>
            <p:nvPr/>
          </p:nvSpPr>
          <p:spPr>
            <a:xfrm>
              <a:off x="2762267" y="7704765"/>
              <a:ext cx="1601565" cy="565258"/>
            </a:xfrm>
            <a:custGeom>
              <a:avLst/>
              <a:gdLst>
                <a:gd name="connsiteX0" fmla="*/ 0 w 1601565"/>
                <a:gd name="connsiteY0" fmla="*/ 0 h 565258"/>
                <a:gd name="connsiteX1" fmla="*/ 1601565 w 1601565"/>
                <a:gd name="connsiteY1" fmla="*/ 0 h 565258"/>
                <a:gd name="connsiteX2" fmla="*/ 1601565 w 1601565"/>
                <a:gd name="connsiteY2" fmla="*/ 565258 h 565258"/>
                <a:gd name="connsiteX3" fmla="*/ 0 w 1601565"/>
                <a:gd name="connsiteY3" fmla="*/ 565258 h 565258"/>
                <a:gd name="connsiteX4" fmla="*/ 0 w 1601565"/>
                <a:gd name="connsiteY4" fmla="*/ 0 h 565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1565" h="565258">
                  <a:moveTo>
                    <a:pt x="0" y="0"/>
                  </a:moveTo>
                  <a:lnTo>
                    <a:pt x="1601565" y="0"/>
                  </a:lnTo>
                  <a:lnTo>
                    <a:pt x="1601565" y="565258"/>
                  </a:lnTo>
                  <a:lnTo>
                    <a:pt x="0" y="565258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pt-BR" sz="1200" kern="1200" dirty="0"/>
                <a:t>Protótipo </a:t>
              </a:r>
              <a:r>
                <a:rPr lang="pt-BR" sz="1200" kern="1200" dirty="0" err="1"/>
                <a:t>Custom</a:t>
              </a:r>
              <a:r>
                <a:rPr lang="pt-BR" sz="1200" kern="1200" dirty="0"/>
                <a:t> </a:t>
              </a:r>
              <a:r>
                <a:rPr lang="pt-BR" sz="1200" kern="1200" dirty="0" err="1"/>
                <a:t>Camaro</a:t>
              </a:r>
              <a:endParaRPr lang="pt-BR" sz="1200" kern="1200" dirty="0"/>
            </a:p>
          </p:txBody>
        </p:sp>
      </p:grp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1884F74E-DFC8-4665-B623-C285EB644E22}"/>
              </a:ext>
            </a:extLst>
          </p:cNvPr>
          <p:cNvGrpSpPr/>
          <p:nvPr/>
        </p:nvGrpSpPr>
        <p:grpSpPr>
          <a:xfrm>
            <a:off x="4647687" y="6783009"/>
            <a:ext cx="1872296" cy="2398388"/>
            <a:chOff x="4791827" y="6260216"/>
            <a:chExt cx="1779516" cy="2093549"/>
          </a:xfrm>
        </p:grpSpPr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1A90764A-64A6-4AC2-BA91-9870B06AFA17}"/>
                </a:ext>
              </a:extLst>
            </p:cNvPr>
            <p:cNvSpPr/>
            <p:nvPr/>
          </p:nvSpPr>
          <p:spPr>
            <a:xfrm>
              <a:off x="4791827" y="6260216"/>
              <a:ext cx="1779516" cy="2093549"/>
            </a:xfrm>
            <a:prstGeom prst="rect">
              <a:avLst/>
            </a:prstGeom>
            <a:ln>
              <a:solidFill>
                <a:srgbClr val="E94527"/>
              </a:solidFill>
            </a:ln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6" name="Retângulo 15" descr="Hot Wheels Sweet 16 : r/HotWheels">
              <a:extLst>
                <a:ext uri="{FF2B5EF4-FFF2-40B4-BE49-F238E27FC236}">
                  <a16:creationId xmlns:a16="http://schemas.microsoft.com/office/drawing/2014/main" id="{572E1454-B7BD-4C30-92CF-3043B8D18EE3}"/>
                </a:ext>
              </a:extLst>
            </p:cNvPr>
            <p:cNvSpPr/>
            <p:nvPr/>
          </p:nvSpPr>
          <p:spPr>
            <a:xfrm>
              <a:off x="4880803" y="6343958"/>
              <a:ext cx="1601565" cy="1360806"/>
            </a:xfrm>
            <a:prstGeom prst="rect">
              <a:avLst/>
            </a:prstGeom>
            <a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l="-12000" r="-12000"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7" name="Forma Livre: Forma 16">
              <a:extLst>
                <a:ext uri="{FF2B5EF4-FFF2-40B4-BE49-F238E27FC236}">
                  <a16:creationId xmlns:a16="http://schemas.microsoft.com/office/drawing/2014/main" id="{D5AF897C-478D-4DA1-89C3-028AC90F9539}"/>
                </a:ext>
              </a:extLst>
            </p:cNvPr>
            <p:cNvSpPr/>
            <p:nvPr/>
          </p:nvSpPr>
          <p:spPr>
            <a:xfrm>
              <a:off x="4880803" y="7704765"/>
              <a:ext cx="1601565" cy="565258"/>
            </a:xfrm>
            <a:custGeom>
              <a:avLst/>
              <a:gdLst>
                <a:gd name="connsiteX0" fmla="*/ 0 w 1601565"/>
                <a:gd name="connsiteY0" fmla="*/ 0 h 565258"/>
                <a:gd name="connsiteX1" fmla="*/ 1601565 w 1601565"/>
                <a:gd name="connsiteY1" fmla="*/ 0 h 565258"/>
                <a:gd name="connsiteX2" fmla="*/ 1601565 w 1601565"/>
                <a:gd name="connsiteY2" fmla="*/ 565258 h 565258"/>
                <a:gd name="connsiteX3" fmla="*/ 0 w 1601565"/>
                <a:gd name="connsiteY3" fmla="*/ 565258 h 565258"/>
                <a:gd name="connsiteX4" fmla="*/ 0 w 1601565"/>
                <a:gd name="connsiteY4" fmla="*/ 0 h 565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1565" h="565258">
                  <a:moveTo>
                    <a:pt x="0" y="0"/>
                  </a:moveTo>
                  <a:lnTo>
                    <a:pt x="1601565" y="0"/>
                  </a:lnTo>
                  <a:lnTo>
                    <a:pt x="1601565" y="565258"/>
                  </a:lnTo>
                  <a:lnTo>
                    <a:pt x="0" y="565258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marL="0" lvl="0" indent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pt-BR" sz="1200" kern="1200" dirty="0"/>
                <a:t>Sweet 16</a:t>
              </a:r>
            </a:p>
          </p:txBody>
        </p:sp>
      </p:grpSp>
      <p:sp>
        <p:nvSpPr>
          <p:cNvPr id="21" name="Espaço Reservado para Número de Slide 20">
            <a:extLst>
              <a:ext uri="{FF2B5EF4-FFF2-40B4-BE49-F238E27FC236}">
                <a16:creationId xmlns:a16="http://schemas.microsoft.com/office/drawing/2014/main" id="{26D30F59-340F-4A5E-93BF-643B48A1B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49CF2-B3F8-43E0-914E-7339EF572EFE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02254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1D154CA8-0050-44F8-A51D-C1668CE8C09E}"/>
              </a:ext>
            </a:extLst>
          </p:cNvPr>
          <p:cNvSpPr/>
          <p:nvPr/>
        </p:nvSpPr>
        <p:spPr>
          <a:xfrm>
            <a:off x="0" y="0"/>
            <a:ext cx="6858000" cy="990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Título">
            <a:extLst>
              <a:ext uri="{FF2B5EF4-FFF2-40B4-BE49-F238E27FC236}">
                <a16:creationId xmlns:a16="http://schemas.microsoft.com/office/drawing/2014/main" id="{9AC7BF4E-8E57-42CF-8E7D-F340AA3CAA37}"/>
              </a:ext>
            </a:extLst>
          </p:cNvPr>
          <p:cNvSpPr txBox="1">
            <a:spLocks/>
          </p:cNvSpPr>
          <p:nvPr/>
        </p:nvSpPr>
        <p:spPr>
          <a:xfrm>
            <a:off x="471485" y="6602506"/>
            <a:ext cx="5915025" cy="18577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dirty="0">
                <a:solidFill>
                  <a:srgbClr val="F8C340"/>
                </a:solidFill>
                <a:latin typeface="Impact" panose="020B0806030902050204" pitchFamily="34" charset="0"/>
              </a:rPr>
              <a:t>O SUCESSO E A REVOLUÇÃO DO MERCADO</a:t>
            </a:r>
            <a:endParaRPr lang="pt-BR" sz="6600" dirty="0">
              <a:solidFill>
                <a:srgbClr val="F8C340"/>
              </a:solidFill>
              <a:latin typeface="Impact" panose="020B0806030902050204" pitchFamily="34" charset="0"/>
            </a:endParaRPr>
          </a:p>
        </p:txBody>
      </p:sp>
      <p:sp>
        <p:nvSpPr>
          <p:cNvPr id="9" name="Título">
            <a:extLst>
              <a:ext uri="{FF2B5EF4-FFF2-40B4-BE49-F238E27FC236}">
                <a16:creationId xmlns:a16="http://schemas.microsoft.com/office/drawing/2014/main" id="{C3BE97D5-B4C9-4F5C-8603-A830AB8F546E}"/>
              </a:ext>
            </a:extLst>
          </p:cNvPr>
          <p:cNvSpPr txBox="1">
            <a:spLocks/>
          </p:cNvSpPr>
          <p:nvPr/>
        </p:nvSpPr>
        <p:spPr>
          <a:xfrm>
            <a:off x="471487" y="6011808"/>
            <a:ext cx="1101820" cy="4563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6000" dirty="0">
                <a:solidFill>
                  <a:srgbClr val="E94527"/>
                </a:solidFill>
                <a:latin typeface="Impact" panose="020B0806030902050204" pitchFamily="34" charset="0"/>
              </a:rPr>
              <a:t>05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B6D853D1-597A-4047-A2D9-32BA629E2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49CF2-B3F8-43E0-914E-7339EF572EFE}" type="slidenum">
              <a:rPr lang="pt-BR" smtClean="0">
                <a:solidFill>
                  <a:schemeClr val="bg1"/>
                </a:solidFill>
              </a:rPr>
              <a:t>10</a:t>
            </a:fld>
            <a:endParaRPr lang="pt-B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41613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">
            <a:extLst>
              <a:ext uri="{FF2B5EF4-FFF2-40B4-BE49-F238E27FC236}">
                <a16:creationId xmlns:a16="http://schemas.microsoft.com/office/drawing/2014/main" id="{9AC7BF4E-8E57-42CF-8E7D-F340AA3CAA37}"/>
              </a:ext>
            </a:extLst>
          </p:cNvPr>
          <p:cNvSpPr txBox="1">
            <a:spLocks/>
          </p:cNvSpPr>
          <p:nvPr/>
        </p:nvSpPr>
        <p:spPr>
          <a:xfrm>
            <a:off x="860614" y="350066"/>
            <a:ext cx="5809128" cy="70136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dirty="0">
                <a:solidFill>
                  <a:srgbClr val="F8C340"/>
                </a:solidFill>
                <a:latin typeface="Impact" panose="020B0806030902050204" pitchFamily="34" charset="0"/>
              </a:rPr>
              <a:t>O SUCESSO E A REVOLUÇÃO DO MERCADO</a:t>
            </a:r>
            <a:endParaRPr lang="pt-BR" sz="4400" dirty="0">
              <a:solidFill>
                <a:srgbClr val="F8C340"/>
              </a:solidFill>
              <a:latin typeface="Impact" panose="020B0806030902050204" pitchFamily="34" charset="0"/>
            </a:endParaRPr>
          </a:p>
        </p:txBody>
      </p:sp>
      <p:sp>
        <p:nvSpPr>
          <p:cNvPr id="9" name="Título">
            <a:extLst>
              <a:ext uri="{FF2B5EF4-FFF2-40B4-BE49-F238E27FC236}">
                <a16:creationId xmlns:a16="http://schemas.microsoft.com/office/drawing/2014/main" id="{C3BE97D5-B4C9-4F5C-8603-A830AB8F546E}"/>
              </a:ext>
            </a:extLst>
          </p:cNvPr>
          <p:cNvSpPr txBox="1">
            <a:spLocks/>
          </p:cNvSpPr>
          <p:nvPr/>
        </p:nvSpPr>
        <p:spPr>
          <a:xfrm>
            <a:off x="350462" y="472593"/>
            <a:ext cx="698410" cy="4563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200" dirty="0">
                <a:solidFill>
                  <a:srgbClr val="E94527"/>
                </a:solidFill>
                <a:latin typeface="Impact" panose="020B0806030902050204" pitchFamily="34" charset="0"/>
              </a:rPr>
              <a:t>05</a:t>
            </a:r>
          </a:p>
        </p:txBody>
      </p:sp>
      <p:sp>
        <p:nvSpPr>
          <p:cNvPr id="6" name="Texto">
            <a:extLst>
              <a:ext uri="{FF2B5EF4-FFF2-40B4-BE49-F238E27FC236}">
                <a16:creationId xmlns:a16="http://schemas.microsoft.com/office/drawing/2014/main" id="{008B5327-025C-4D27-BBFB-6C6BD1A70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359" y="1356273"/>
            <a:ext cx="6213383" cy="5111761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pt-BR" sz="1900" dirty="0"/>
              <a:t>O sucesso foi instantâneo. Em poucos anos, os carrinhos da </a:t>
            </a:r>
            <a:r>
              <a:rPr lang="pt-BR" sz="1900" dirty="0" err="1"/>
              <a:t>Mattel</a:t>
            </a:r>
            <a:r>
              <a:rPr lang="pt-BR" sz="1900" dirty="0"/>
              <a:t> derrubaram o reinado da </a:t>
            </a:r>
            <a:r>
              <a:rPr lang="pt-BR" sz="1900" dirty="0" err="1"/>
              <a:t>Matchbox</a:t>
            </a:r>
            <a:r>
              <a:rPr lang="pt-BR" sz="1900" dirty="0"/>
              <a:t>,  que anos mais tarde seria adquirida pela própria marca, se consolidaram como ícone da cultura automotiva.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pt-BR" sz="1900" dirty="0"/>
              <a:t>Colecionadores surgiram ao redor do mundo e o que era um brinquedo virou objeto de paixão e investimento.</a:t>
            </a:r>
            <a:br>
              <a:rPr lang="pt-BR" sz="1900" dirty="0"/>
            </a:br>
            <a:r>
              <a:rPr lang="pt-BR" sz="1900" dirty="0"/>
              <a:t>O maior símbolo dessa febre é a Volkswagen Beach </a:t>
            </a:r>
            <a:r>
              <a:rPr lang="pt-BR" sz="1900" dirty="0" err="1"/>
              <a:t>Bomb</a:t>
            </a:r>
            <a:r>
              <a:rPr lang="pt-BR" sz="1900" dirty="0"/>
              <a:t> Rosa (protótipo, 1969) considerado o Hot </a:t>
            </a:r>
            <a:r>
              <a:rPr lang="pt-BR" sz="1900" dirty="0" err="1"/>
              <a:t>Wheels</a:t>
            </a:r>
            <a:r>
              <a:rPr lang="pt-BR" sz="1900" dirty="0"/>
              <a:t> mais valioso da história, avaliado em mais de 175 mil dólares.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pt-BR" sz="1900" dirty="0"/>
              <a:t>Foi um projeto não aprovado para produção por tombar nas pistas devido ao design e desbalanceamento de peso. Existem dois exemplares, ambos pertenciam a Bruce </a:t>
            </a:r>
            <a:r>
              <a:rPr lang="pt-BR" sz="1900" dirty="0" err="1"/>
              <a:t>Pascall</a:t>
            </a:r>
            <a:r>
              <a:rPr lang="pt-BR" sz="1900" dirty="0"/>
              <a:t>, um dos maiores colecionadores e entusiasta da marca. Um protótipo ainda permanece em sua coleção, e outro foi vendido a uma amigo.</a:t>
            </a:r>
          </a:p>
        </p:txBody>
      </p:sp>
      <p:pic>
        <p:nvPicPr>
          <p:cNvPr id="6146" name="Picture 2" descr="No photo description available.">
            <a:extLst>
              <a:ext uri="{FF2B5EF4-FFF2-40B4-BE49-F238E27FC236}">
                <a16:creationId xmlns:a16="http://schemas.microsoft.com/office/drawing/2014/main" id="{B547E0B6-0965-4604-BFBC-26541580FA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53" r="19020"/>
          <a:stretch/>
        </p:blipFill>
        <p:spPr bwMode="auto">
          <a:xfrm>
            <a:off x="879463" y="6508375"/>
            <a:ext cx="5099074" cy="31189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7BDA8A0-5F7A-4B0C-95F5-7236071E2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49CF2-B3F8-43E0-914E-7339EF572EFE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28258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1D154CA8-0050-44F8-A51D-C1668CE8C09E}"/>
              </a:ext>
            </a:extLst>
          </p:cNvPr>
          <p:cNvSpPr/>
          <p:nvPr/>
        </p:nvSpPr>
        <p:spPr>
          <a:xfrm>
            <a:off x="0" y="0"/>
            <a:ext cx="6858000" cy="990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Título">
            <a:extLst>
              <a:ext uri="{FF2B5EF4-FFF2-40B4-BE49-F238E27FC236}">
                <a16:creationId xmlns:a16="http://schemas.microsoft.com/office/drawing/2014/main" id="{9AC7BF4E-8E57-42CF-8E7D-F340AA3CAA37}"/>
              </a:ext>
            </a:extLst>
          </p:cNvPr>
          <p:cNvSpPr txBox="1">
            <a:spLocks/>
          </p:cNvSpPr>
          <p:nvPr/>
        </p:nvSpPr>
        <p:spPr>
          <a:xfrm>
            <a:off x="471485" y="6602506"/>
            <a:ext cx="5915025" cy="18577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dirty="0">
                <a:solidFill>
                  <a:srgbClr val="F8C340"/>
                </a:solidFill>
                <a:latin typeface="Impact" panose="020B0806030902050204" pitchFamily="34" charset="0"/>
              </a:rPr>
              <a:t>OBRIGADO, RUTH E ELLIOT HANDLER</a:t>
            </a:r>
            <a:endParaRPr lang="pt-BR" sz="6600" dirty="0">
              <a:solidFill>
                <a:srgbClr val="F8C340"/>
              </a:solidFill>
              <a:latin typeface="Impact" panose="020B0806030902050204" pitchFamily="34" charset="0"/>
            </a:endParaRPr>
          </a:p>
        </p:txBody>
      </p:sp>
      <p:sp>
        <p:nvSpPr>
          <p:cNvPr id="9" name="Título">
            <a:extLst>
              <a:ext uri="{FF2B5EF4-FFF2-40B4-BE49-F238E27FC236}">
                <a16:creationId xmlns:a16="http://schemas.microsoft.com/office/drawing/2014/main" id="{C3BE97D5-B4C9-4F5C-8603-A830AB8F546E}"/>
              </a:ext>
            </a:extLst>
          </p:cNvPr>
          <p:cNvSpPr txBox="1">
            <a:spLocks/>
          </p:cNvSpPr>
          <p:nvPr/>
        </p:nvSpPr>
        <p:spPr>
          <a:xfrm>
            <a:off x="471487" y="6011808"/>
            <a:ext cx="1101820" cy="4563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6000" dirty="0">
                <a:solidFill>
                  <a:srgbClr val="E94527"/>
                </a:solidFill>
                <a:latin typeface="Impact" panose="020B0806030902050204" pitchFamily="34" charset="0"/>
              </a:rPr>
              <a:t>06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14CD3174-AA1A-47A7-B15C-54AC3B052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49CF2-B3F8-43E0-914E-7339EF572EFE}" type="slidenum">
              <a:rPr lang="pt-BR" smtClean="0">
                <a:solidFill>
                  <a:schemeClr val="bg1"/>
                </a:solidFill>
              </a:rPr>
              <a:t>12</a:t>
            </a:fld>
            <a:endParaRPr lang="pt-B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36397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">
            <a:extLst>
              <a:ext uri="{FF2B5EF4-FFF2-40B4-BE49-F238E27FC236}">
                <a16:creationId xmlns:a16="http://schemas.microsoft.com/office/drawing/2014/main" id="{9AC7BF4E-8E57-42CF-8E7D-F340AA3CAA37}"/>
              </a:ext>
            </a:extLst>
          </p:cNvPr>
          <p:cNvSpPr txBox="1">
            <a:spLocks/>
          </p:cNvSpPr>
          <p:nvPr/>
        </p:nvSpPr>
        <p:spPr>
          <a:xfrm>
            <a:off x="860614" y="458118"/>
            <a:ext cx="5809128" cy="4563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dirty="0">
                <a:solidFill>
                  <a:srgbClr val="F8C340"/>
                </a:solidFill>
                <a:latin typeface="Impact" panose="020B0806030902050204" pitchFamily="34" charset="0"/>
              </a:rPr>
              <a:t>Obrigado, Ruth e Elliot </a:t>
            </a:r>
            <a:r>
              <a:rPr lang="pt-BR" sz="2400" dirty="0" err="1">
                <a:solidFill>
                  <a:srgbClr val="F8C340"/>
                </a:solidFill>
                <a:latin typeface="Impact" panose="020B0806030902050204" pitchFamily="34" charset="0"/>
              </a:rPr>
              <a:t>Handler</a:t>
            </a:r>
            <a:endParaRPr lang="pt-BR" sz="4400" dirty="0">
              <a:solidFill>
                <a:srgbClr val="F8C340"/>
              </a:solidFill>
              <a:latin typeface="Impact" panose="020B0806030902050204" pitchFamily="34" charset="0"/>
            </a:endParaRPr>
          </a:p>
        </p:txBody>
      </p:sp>
      <p:sp>
        <p:nvSpPr>
          <p:cNvPr id="9" name="Título">
            <a:extLst>
              <a:ext uri="{FF2B5EF4-FFF2-40B4-BE49-F238E27FC236}">
                <a16:creationId xmlns:a16="http://schemas.microsoft.com/office/drawing/2014/main" id="{C3BE97D5-B4C9-4F5C-8603-A830AB8F546E}"/>
              </a:ext>
            </a:extLst>
          </p:cNvPr>
          <p:cNvSpPr txBox="1">
            <a:spLocks/>
          </p:cNvSpPr>
          <p:nvPr/>
        </p:nvSpPr>
        <p:spPr>
          <a:xfrm>
            <a:off x="350462" y="472593"/>
            <a:ext cx="698410" cy="4563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200" dirty="0">
                <a:solidFill>
                  <a:srgbClr val="E94527"/>
                </a:solidFill>
                <a:latin typeface="Impact" panose="020B0806030902050204" pitchFamily="34" charset="0"/>
              </a:rPr>
              <a:t>06</a:t>
            </a:r>
          </a:p>
        </p:txBody>
      </p:sp>
      <p:sp>
        <p:nvSpPr>
          <p:cNvPr id="6" name="Texto">
            <a:extLst>
              <a:ext uri="{FF2B5EF4-FFF2-40B4-BE49-F238E27FC236}">
                <a16:creationId xmlns:a16="http://schemas.microsoft.com/office/drawing/2014/main" id="{008B5327-025C-4D27-BBFB-6C6BD1A70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359" y="1356274"/>
            <a:ext cx="6213383" cy="317538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1900" dirty="0"/>
              <a:t>Se hoje, Hot </a:t>
            </a:r>
            <a:r>
              <a:rPr lang="pt-BR" sz="1900" dirty="0" err="1"/>
              <a:t>Wheels</a:t>
            </a:r>
            <a:r>
              <a:rPr lang="pt-BR" sz="1900" dirty="0"/>
              <a:t> é um legado e mais que um brinquedo tudo isso se deve à vocês.</a:t>
            </a:r>
          </a:p>
          <a:p>
            <a:pPr marL="0" indent="0">
              <a:buNone/>
            </a:pPr>
            <a:r>
              <a:rPr lang="pt-BR" sz="1900" b="0" i="0" dirty="0">
                <a:solidFill>
                  <a:srgbClr val="242424"/>
                </a:solidFill>
                <a:effectLst/>
              </a:rPr>
              <a:t>Por sua incrível criatividade e por fazerem brinquedos que nos permitem e permitiram, crianças, adultos e idosos, brincar, sonhar, imaginar, colecionar e se divertir. </a:t>
            </a:r>
          </a:p>
          <a:p>
            <a:pPr marL="0" indent="0">
              <a:buNone/>
            </a:pPr>
            <a:r>
              <a:rPr lang="pt-BR" sz="1900" b="0" i="0" dirty="0">
                <a:solidFill>
                  <a:srgbClr val="242424"/>
                </a:solidFill>
                <a:effectLst/>
              </a:rPr>
              <a:t>Hot </a:t>
            </a:r>
            <a:r>
              <a:rPr lang="pt-BR" sz="1900" b="0" i="0" dirty="0" err="1">
                <a:solidFill>
                  <a:srgbClr val="242424"/>
                </a:solidFill>
                <a:effectLst/>
              </a:rPr>
              <a:t>Wheels</a:t>
            </a:r>
            <a:r>
              <a:rPr lang="pt-BR" sz="1900" b="0" i="0" dirty="0">
                <a:solidFill>
                  <a:srgbClr val="242424"/>
                </a:solidFill>
                <a:effectLst/>
              </a:rPr>
              <a:t> conecta gerações através de um simples brinquedo, faz nos unirmos através do colecionismo e torna o mundo uma unicidade. </a:t>
            </a:r>
          </a:p>
          <a:p>
            <a:pPr marL="0" indent="0">
              <a:buNone/>
            </a:pPr>
            <a:r>
              <a:rPr lang="pt-BR" sz="1900" b="0" i="0" dirty="0">
                <a:solidFill>
                  <a:srgbClr val="242424"/>
                </a:solidFill>
                <a:effectLst/>
              </a:rPr>
              <a:t>Não importa a distância ou a idade, estamos todos unidos por uma única paixão: carros em miniaturas.</a:t>
            </a:r>
            <a:endParaRPr lang="pt-BR" sz="19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181923B-2B3E-4056-A4E5-944A4E48E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49CF2-B3F8-43E0-914E-7339EF572EFE}" type="slidenum">
              <a:rPr lang="pt-BR" smtClean="0"/>
              <a:t>13</a:t>
            </a:fld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B6C6DB41-EC19-47DF-8551-3E4617DFB5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15" y="4531660"/>
            <a:ext cx="4820770" cy="457973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82928211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271</TotalTime>
  <Words>868</Words>
  <Application>Microsoft Office PowerPoint</Application>
  <PresentationFormat>Papel A4 (210 x 297 mm)</PresentationFormat>
  <Paragraphs>54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9" baseType="lpstr">
      <vt:lpstr>Albert Sans</vt:lpstr>
      <vt:lpstr>Arial</vt:lpstr>
      <vt:lpstr>Calibri</vt:lpstr>
      <vt:lpstr>Calibri Light</vt:lpstr>
      <vt:lpstr>Impact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Paulo Silva</dc:creator>
  <cp:lastModifiedBy>Paulo Silva</cp:lastModifiedBy>
  <cp:revision>28</cp:revision>
  <dcterms:created xsi:type="dcterms:W3CDTF">2025-10-27T13:15:42Z</dcterms:created>
  <dcterms:modified xsi:type="dcterms:W3CDTF">2025-10-27T17:46:49Z</dcterms:modified>
</cp:coreProperties>
</file>